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723" y="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375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31520"/>
            <a:ext cx="8229600" cy="3840480"/>
          </a:xfrm>
          <a:prstGeom prst="rect">
            <a:avLst/>
          </a:prstGeom>
          <a:solidFill>
            <a:srgbClr val="243554">
              <a:alpha val="70000"/>
            </a:srgbClr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83530" y="731520"/>
            <a:ext cx="1371600" cy="1371600"/>
          </a:xfrm>
          <a:prstGeom prst="ellipse">
            <a:avLst/>
          </a:prstGeom>
          <a:solidFill>
            <a:srgbClr val="FFC857">
              <a:alpha val="18000"/>
            </a:srgbClr>
          </a:solidFill>
          <a:ln w="12700">
            <a:solidFill>
              <a:srgbClr val="FFC85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960120"/>
            <a:ext cx="10058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</a:rPr>
              <a:t>SQL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83080" y="960120"/>
            <a:ext cx="1554480" cy="347472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960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FLIPKART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Presentation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FLIPKART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32004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 Logistics &amp; Delivery Analytics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Tridev Pal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0D8027DD-4036-59AE-0F57-34D28B43CB24}"/>
              </a:ext>
            </a:extLst>
          </p:cNvPr>
          <p:cNvSpPr/>
          <p:nvPr/>
        </p:nvSpPr>
        <p:spPr>
          <a:xfrm>
            <a:off x="9084252" y="31704"/>
            <a:ext cx="54864" cy="50886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33641" y="274320"/>
            <a:ext cx="2286000" cy="22860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2011680" cy="45720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82296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Order IDs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2011680" cy="4572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82296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NULL Traffic Delays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17720" y="822960"/>
            <a:ext cx="2011680" cy="457200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82296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Date Formats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12280" y="822960"/>
            <a:ext cx="201168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82296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Delivery Dates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141732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1417320"/>
            <a:ext cx="54864" cy="7315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508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Order_ID Detection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17647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deleted duplicate Order_ID records using SQL. Ensures each order is counted exactly once for accurate analytics.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24028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240280"/>
            <a:ext cx="54864" cy="7315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331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Traffic Delay Replacement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5877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NULL values in Traffic_Delay_Min with the per-route average using an UPDATE with a subquery (grouped by Route_ID).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306324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063240"/>
            <a:ext cx="54864" cy="731520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54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Standardisation to YYYY-MM-DD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4107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STR_TO_DATE() to convert Checkpoint_Time in shipment table, then altered the column to DATETIME type.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388620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3886200"/>
            <a:ext cx="54864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977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Date Validation Flag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23367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generated column Delivery_Date_Validation — marks records 'Invalid' where Actual_Delivery_Date &lt; Order_Date.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822960"/>
            <a:ext cx="4297680" cy="3749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A28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914400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Remove duplicates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orders WHERE Order_ID IN 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Order_ID FROM 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Order_ID, ROW_NUMBER() OVER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(PARTITION BY Order_ID ORDER BY Order_ID) rn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orders) t WHERE rn &gt; 1);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Replace NULL traffic delays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routes r SET Traffic_Delay_Min = 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AVG(Traffic_Delay_Min) FROM routes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Route_ID = r.Route_ID AND Traffic_Delay_Min IS NOT NULL)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Traffic_Delay_Min IS NULL;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Convert dates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shipment SET Checkpoint_Time =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STR_TO_DATE(Checkpoint_Time, '%d-%m-%Y %H.%i')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STR_TO_DATE(Checkpoint_Time, '%d-%m-%Y %H.%i') IS NOT NULL;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shipment MODIFY Checkpoint_Time DATETIME;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Validate delivery dates (generated column)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orders ADD COLUMN Delivery_Date_Validation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VARCHAR(10) GENERATED ALWAYS AS 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WHEN Actual_Delivery_Date &lt; Order_Date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THEN 'Invalid' ELSE 'Valid' END);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04672"/>
            <a:ext cx="1920240" cy="457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961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RT_13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8600" y="1353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Route (1.07 day avg delay)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0" y="804672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0" y="804672"/>
            <a:ext cx="192024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8961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RT_02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286000" y="1353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Route (0.15 day avg delay)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43400" y="804672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804672"/>
            <a:ext cx="19202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8961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WH_09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43400" y="1353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Delayed Warehouse (162 orders)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0" y="804672"/>
            <a:ext cx="2514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804672"/>
            <a:ext cx="2514600" cy="45720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8961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DENSE_RANK()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400800" y="135331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Used for Ranking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1874520"/>
            <a:ext cx="50292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18745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DELAYED ROUTES — Average Delay Days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" y="217627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RT_13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14400" y="2203704"/>
            <a:ext cx="4114800" cy="17373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904" y="217627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1.067 days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28600" y="244144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RT_09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0" y="2468880"/>
            <a:ext cx="2687925" cy="1737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48045" y="244144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0.697 days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" y="2706624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RT_14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14400" y="2734056"/>
            <a:ext cx="2525955" cy="1737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86075" y="270662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0.655 days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28600" y="297180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RT_04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14400" y="2999232"/>
            <a:ext cx="2387124" cy="173736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47244" y="297180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0.619 days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28600" y="323697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RT_08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14400" y="3264408"/>
            <a:ext cx="2329278" cy="173736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89398" y="323697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0.604 days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28600" y="350215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RT_18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14400" y="3529584"/>
            <a:ext cx="2306139" cy="173736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66259" y="350215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0.598 days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28600" y="376732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RT_17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14400" y="3794760"/>
            <a:ext cx="2178877" cy="173736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38997" y="376732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0.565 days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28600" y="4032504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RT_11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914400" y="4059936"/>
            <a:ext cx="2121031" cy="173736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81151" y="403250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0.550 days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28600" y="429768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RT_03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914400" y="4325112"/>
            <a:ext cx="2082467" cy="173736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42587" y="429768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0.540 days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28600" y="456285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RT_06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14400" y="4590288"/>
            <a:ext cx="1970631" cy="173736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30751" y="45628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0.511 days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486400" y="1874520"/>
            <a:ext cx="34290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0" y="187452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DELAY RANK TOTALS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86400" y="217627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WH_09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126480" y="2203704"/>
            <a:ext cx="2560320" cy="17373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32520" y="217627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486400" y="2441448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WH_08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126480" y="2468880"/>
            <a:ext cx="2181013" cy="1737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53213" y="2441448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486400" y="2706624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WH_04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126480" y="2734056"/>
            <a:ext cx="1738489" cy="1737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10689" y="270662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486400" y="2971800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WH_05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126480" y="2999232"/>
            <a:ext cx="1596249" cy="17373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68449" y="297180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486400" y="3236976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WH_10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126480" y="3264408"/>
            <a:ext cx="1596249" cy="17373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68449" y="323697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486400" y="350215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WH_07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126480" y="3529584"/>
            <a:ext cx="1469813" cy="17373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42013" y="350215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5486400" y="3767328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WH_02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126480" y="3794760"/>
            <a:ext cx="1454009" cy="17373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626209" y="3767328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5486400" y="4032504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WH_03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126480" y="4059936"/>
            <a:ext cx="1311769" cy="17373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83969" y="403250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5486400" y="4297680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WH_01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126480" y="4325112"/>
            <a:ext cx="1327573" cy="17373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99773" y="429768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5486400" y="4562856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WH_06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6126480" y="4590288"/>
            <a:ext cx="1153724" cy="17373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325924" y="456285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107152" y="4809729"/>
            <a:ext cx="8915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A28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244312" y="4765160"/>
            <a:ext cx="8549640" cy="1519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 functions to rank all orders by delay within each warehouse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Order_ID, </a:t>
            </a:r>
            <a:r>
              <a:rPr lang="en-US" sz="7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Warehouse_ID</a:t>
            </a: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750" dirty="0"/>
              <a:t> </a:t>
            </a: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 DATEDIFF(</a:t>
            </a:r>
            <a:r>
              <a:rPr lang="en-US" sz="7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Actual_Delivery_Date</a:t>
            </a: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Expected_Delivery_Date</a:t>
            </a: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</a:t>
            </a:r>
            <a:r>
              <a:rPr lang="en-US" sz="7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Delay_Days</a:t>
            </a: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750" dirty="0"/>
              <a:t> </a:t>
            </a: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 DENSE_RANK() OVER (PARTITION BY </a:t>
            </a:r>
            <a:r>
              <a:rPr lang="en-US" sz="7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Warehouse_ID</a:t>
            </a:r>
            <a:r>
              <a:rPr lang="en-US" sz="750" dirty="0"/>
              <a:t> </a:t>
            </a: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 ORDER BY DATEDIFF(</a:t>
            </a:r>
            <a:r>
              <a:rPr lang="en-US" sz="7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Actual_Delivery_Date</a:t>
            </a: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Expected_Delivery_Date</a:t>
            </a: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DESC) AS </a:t>
            </a:r>
            <a:r>
              <a:rPr lang="en-US" sz="7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Delay_Rank</a:t>
            </a:r>
            <a:r>
              <a:rPr lang="en-US" sz="750" dirty="0"/>
              <a:t> </a:t>
            </a: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 FROM orders WHERE /n </a:t>
            </a:r>
            <a:r>
              <a:rPr lang="en-US" sz="7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Actual_Delivery_Date</a:t>
            </a: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 NOT NULL;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Insights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04672"/>
            <a:ext cx="19202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96112"/>
            <a:ext cx="192024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46.85 min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8600" y="1271016"/>
            <a:ext cx="192024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Traffic Delay (all routes)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0" y="804672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0" y="804672"/>
            <a:ext cx="1920240" cy="457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896112"/>
            <a:ext cx="192024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RT_13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286000" y="1271016"/>
            <a:ext cx="192024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Efficiency — 1.07 day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43400" y="804672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804672"/>
            <a:ext cx="192024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896112"/>
            <a:ext cx="192024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RT_02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43400" y="1271016"/>
            <a:ext cx="192024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Route — 0.15 day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0" y="804672"/>
            <a:ext cx="2514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804672"/>
            <a:ext cx="2514600" cy="457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896112"/>
            <a:ext cx="251460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Routes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400800" y="1271016"/>
            <a:ext cx="251460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&gt;30% delayed shipments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1708100"/>
            <a:ext cx="512064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17081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TIME PER ROUTE (days)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891167"/>
            <a:ext cx="233172" cy="748145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</a:t>
            </a:r>
          </a:p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</a:rPr>
              <a:t>01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525780" y="3400214"/>
            <a:ext cx="233172" cy="23909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</a:t>
            </a:r>
          </a:p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</a:rPr>
              <a:t>02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777240" y="2806325"/>
            <a:ext cx="233172" cy="832987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RT03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1028700" y="2684462"/>
            <a:ext cx="233172" cy="954850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041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RT04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1280160" y="3174999"/>
            <a:ext cx="233172" cy="464313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6187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RT05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1531620" y="2851060"/>
            <a:ext cx="233172" cy="788252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1333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RT06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1783080" y="3111754"/>
            <a:ext cx="233172" cy="527558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6479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RT07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2034540" y="2707601"/>
            <a:ext cx="233172" cy="931711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1625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RT08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2286000" y="2564142"/>
            <a:ext cx="233172" cy="1075170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6771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RT09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2537460" y="3278351"/>
            <a:ext cx="233172" cy="360961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1917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RT10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2788920" y="2790900"/>
            <a:ext cx="233172" cy="848412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7063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RT11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3040380" y="3164201"/>
            <a:ext cx="233172" cy="475111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2209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RT12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3291840" y="1993392"/>
            <a:ext cx="233172" cy="16459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7355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RT13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3543300" y="2628930"/>
            <a:ext cx="233172" cy="1010382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2501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RT14</a:t>
            </a:r>
            <a:endParaRPr lang="en-US" sz="550" dirty="0"/>
          </a:p>
        </p:txBody>
      </p:sp>
      <p:sp>
        <p:nvSpPr>
          <p:cNvPr id="53" name="Shape 51"/>
          <p:cNvSpPr/>
          <p:nvPr/>
        </p:nvSpPr>
        <p:spPr>
          <a:xfrm>
            <a:off x="3794760" y="3196595"/>
            <a:ext cx="233172" cy="442717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7647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RT15</a:t>
            </a:r>
            <a:endParaRPr lang="en-US" sz="550" dirty="0"/>
          </a:p>
        </p:txBody>
      </p:sp>
      <p:sp>
        <p:nvSpPr>
          <p:cNvPr id="55" name="Shape 53"/>
          <p:cNvSpPr/>
          <p:nvPr/>
        </p:nvSpPr>
        <p:spPr>
          <a:xfrm>
            <a:off x="4046220" y="2877283"/>
            <a:ext cx="233172" cy="762029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2793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RT16</a:t>
            </a:r>
            <a:endParaRPr lang="en-US" sz="550" dirty="0"/>
          </a:p>
        </p:txBody>
      </p:sp>
      <p:sp>
        <p:nvSpPr>
          <p:cNvPr id="57" name="Shape 55"/>
          <p:cNvSpPr/>
          <p:nvPr/>
        </p:nvSpPr>
        <p:spPr>
          <a:xfrm>
            <a:off x="4297680" y="2767761"/>
            <a:ext cx="233172" cy="871551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7939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RT17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4549140" y="2716856"/>
            <a:ext cx="233172" cy="922456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3085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RT18</a:t>
            </a:r>
            <a:endParaRPr lang="en-US" sz="550" dirty="0"/>
          </a:p>
        </p:txBody>
      </p:sp>
      <p:sp>
        <p:nvSpPr>
          <p:cNvPr id="61" name="Shape 59"/>
          <p:cNvSpPr/>
          <p:nvPr/>
        </p:nvSpPr>
        <p:spPr>
          <a:xfrm>
            <a:off x="4800600" y="3323086"/>
            <a:ext cx="233172" cy="31622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8231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RT19</a:t>
            </a:r>
            <a:endParaRPr lang="en-US" sz="550" dirty="0"/>
          </a:p>
        </p:txBody>
      </p:sp>
      <p:sp>
        <p:nvSpPr>
          <p:cNvPr id="63" name="Shape 61"/>
          <p:cNvSpPr/>
          <p:nvPr/>
        </p:nvSpPr>
        <p:spPr>
          <a:xfrm>
            <a:off x="5052060" y="3262925"/>
            <a:ext cx="233172" cy="376387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33772" y="3749040"/>
            <a:ext cx="269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RT20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5440680" y="1737360"/>
            <a:ext cx="3474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440680" y="1737360"/>
            <a:ext cx="54864" cy="84124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77840" y="182880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Distance-to-Time Efficiency Ratio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577840" y="208483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RT_19, RT_12, RT_10 cover the most distance per unit time — best performers.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RT_14 and RT_13 are the least efficient and need route review.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440680" y="2651760"/>
            <a:ext cx="3474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440680" y="2651760"/>
            <a:ext cx="54864" cy="841248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77840" y="274320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with &gt;20% Delayed Shipments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577840" y="299923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RT_11, RT_05, RT_18, RT_08 have delay rates of 393%–433%. These routes urgently need optimization to restore on-time performance.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440680" y="3566160"/>
            <a:ext cx="3474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440680" y="3566160"/>
            <a:ext cx="54864" cy="8412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77840" y="365760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Recommendations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577840" y="391363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RT_11, RT_05, RT_18, RT_08 for immediate review. RT_19, RT_12, RT_10 also warrant route plan improvements given long distances.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28600" y="4652296"/>
            <a:ext cx="8747150" cy="425196"/>
          </a:xfrm>
          <a:prstGeom prst="rect">
            <a:avLst/>
          </a:prstGeom>
          <a:solidFill>
            <a:srgbClr val="1E3A5F"/>
          </a:solidFill>
          <a:ln w="12700">
            <a:solidFill>
              <a:srgbClr val="0A28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365760" y="4679440"/>
            <a:ext cx="480060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Distance-to-time efficiency ratio: </a:t>
            </a:r>
            <a:r>
              <a:rPr lang="en-US" sz="750" b="1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Distance_KM</a:t>
            </a:r>
            <a:r>
              <a:rPr lang="en-US" sz="75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750" b="1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Average_Travel_Time_Min</a:t>
            </a:r>
            <a:r>
              <a:rPr lang="en-US" sz="75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Route_ID, SUM(Distance_KM)/SUM(Average_Travel_Time_Min) AS Efficiency_Ratio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routes GROUP BY Route_ID ORDER BY Efficiency_Ratio DESC;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Performance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04672"/>
            <a:ext cx="1920240" cy="457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96112"/>
            <a:ext cx="192024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WH_10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8600" y="1271016"/>
            <a:ext cx="192024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Processing Time — 117 min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0" y="804672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0" y="804672"/>
            <a:ext cx="19202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896112"/>
            <a:ext cx="192024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79.4 min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286000" y="1271016"/>
            <a:ext cx="192024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Processing Time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43400" y="804672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804672"/>
            <a:ext cx="192024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896112"/>
            <a:ext cx="192024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43400" y="1271016"/>
            <a:ext cx="192024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On-Time Delivery Rate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0" y="804672"/>
            <a:ext cx="2514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804672"/>
            <a:ext cx="2514600" cy="457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896112"/>
            <a:ext cx="251460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WH_04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400800" y="1271016"/>
            <a:ext cx="251460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Ahmedabad— Best On-Time Rate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1737360"/>
            <a:ext cx="50292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1737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vs DELAYED SHIPMENTS BY WAREHOUSE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" y="203911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WH_07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14400" y="2066544"/>
            <a:ext cx="3300984" cy="17373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31413" y="434949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26.3% (30 delayed / 114 total)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28600" y="2295144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WH_08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0" y="2322576"/>
            <a:ext cx="3231490" cy="17373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11550" y="4087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26.9% (25 delayed / 93 total)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28600" y="255117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WH_04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14400" y="2578608"/>
            <a:ext cx="3214116" cy="17373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95091" y="384352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(25 delayed / 159 total)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28600" y="280720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WH_02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14400" y="2834640"/>
            <a:ext cx="3040380" cy="1737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57270" y="3581023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28.6% (24 delayed / 84 total)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28600" y="306324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WH_06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14400" y="3090672"/>
            <a:ext cx="2962199" cy="1737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00704" y="335584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29.3% (27 delayed / 92 total)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28600" y="331927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WH_05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14400" y="3346704"/>
            <a:ext cx="2840584" cy="17373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36598" y="3084771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30.6% (26 delayed / 85 total)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28600" y="3575304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WH_01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14400" y="3602736"/>
            <a:ext cx="2797150" cy="17373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63757" y="28306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31.0% (27 delayed / 87 total)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28600" y="383133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WH_09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914400" y="3858768"/>
            <a:ext cx="2753716" cy="17373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28516" y="232562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 (36 delayed / 114 total)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28600" y="408736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WH_03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914400" y="4114800"/>
            <a:ext cx="2745029" cy="17373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0685" y="256412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 (31 delayed / 98 total)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28600" y="434340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WH_10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14400" y="4370832"/>
            <a:ext cx="2571293" cy="17373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97098" y="204520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33.8% (25 delayed / 74 total)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394960" y="1737360"/>
            <a:ext cx="352044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94960" y="17373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WAREHOUSES (Processing &gt; Avg)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394960" y="2039112"/>
            <a:ext cx="35204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40680" y="2075688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WH_7  —  110 min  (38% above avg)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394960" y="2404872"/>
            <a:ext cx="35204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40680" y="2441448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WH_08  —  105 min  (32% above avg)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394960" y="2770632"/>
            <a:ext cx="35204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40680" y="2807208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WH_04  —  103 min  (30% above avg)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94960" y="3136392"/>
            <a:ext cx="35204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40680" y="3172968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WH_09  —  90 min  (12% above avg)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94960" y="3502152"/>
            <a:ext cx="35204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40680" y="3538728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WH_03  —  89 min  (12% above avg)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394960" y="3867912"/>
            <a:ext cx="35204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40680" y="3904488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WH_10  —  85 min  (7% above avg)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28600" y="4587994"/>
            <a:ext cx="8686800" cy="523502"/>
          </a:xfrm>
          <a:prstGeom prst="rect">
            <a:avLst/>
          </a:prstGeom>
          <a:solidFill>
            <a:srgbClr val="1E3A5F"/>
          </a:solidFill>
          <a:ln w="12700">
            <a:solidFill>
              <a:srgbClr val="0A28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365760" y="4593714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WarehouseStats AS (SELECT Warehouse_ID, AVG(Average_Processing_Time_Min) AS Avg_Processing_Time FROM warehouses GROUP BY Warehouse_ID),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GlobalAvg AS (SELECT AVG(Average_Processing_Time_Min) AS Global_Avg_Time FROM warehouses)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w.Warehouse_ID, w.Avg_Processing_Time, g.Global_Avg_Time FROM WarehouseStats w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 JOIN GlobalAvg g WHERE w.Avg_Processing_Time &gt; g.Global_Avg_Time;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Agent Performance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2194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04672"/>
            <a:ext cx="219456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96112"/>
            <a:ext cx="219456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53.02 km/h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8600" y="1271016"/>
            <a:ext cx="219456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Agents Avg Speed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0" y="804672"/>
            <a:ext cx="2194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804672"/>
            <a:ext cx="2194560" cy="457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896112"/>
            <a:ext cx="219456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35.32 km/h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60320" y="1271016"/>
            <a:ext cx="219456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Agents Avg Speed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92040" y="804672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804672"/>
            <a:ext cx="18288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896112"/>
            <a:ext cx="182880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92040" y="1271016"/>
            <a:ext cx="182880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gap — room to improve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58000" y="804672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804672"/>
            <a:ext cx="2057400" cy="457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896112"/>
            <a:ext cx="205740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&lt;80%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58000" y="1271016"/>
            <a:ext cx="205740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 threshold for flagging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1737360"/>
            <a:ext cx="4114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17373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SPEED COMPARISON — Top 5 vs Bottom 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084832"/>
            <a:ext cx="411480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0848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Agents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91640" y="2148840"/>
            <a:ext cx="2001273" cy="1920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92913" y="208483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53.02 km/h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2468880"/>
            <a:ext cx="4114800" cy="32004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468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Agents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91640" y="2532888"/>
            <a:ext cx="1391238" cy="192024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74318" y="24688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35.32 km/h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2880360"/>
            <a:ext cx="411480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28803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COUNT BY ROUTE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3108960"/>
            <a:ext cx="201168" cy="731520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" y="385876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466344" y="3255264"/>
            <a:ext cx="201168" cy="585216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85876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676656" y="3401568"/>
            <a:ext cx="201168" cy="438912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" y="385876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886968" y="3401568"/>
            <a:ext cx="201168" cy="438912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" y="385876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1097280" y="3401568"/>
            <a:ext cx="201168" cy="438912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88136" y="385876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1307592" y="3401568"/>
            <a:ext cx="201168" cy="438912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98448" y="385876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1517904" y="3547872"/>
            <a:ext cx="201168" cy="292608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08760" y="385876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1728216" y="3547872"/>
            <a:ext cx="201168" cy="292608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19072" y="385876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1938528" y="3547872"/>
            <a:ext cx="201168" cy="292608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29384" y="385876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550" dirty="0"/>
          </a:p>
        </p:txBody>
      </p:sp>
      <p:sp>
        <p:nvSpPr>
          <p:cNvPr id="53" name="Shape 51"/>
          <p:cNvSpPr/>
          <p:nvPr/>
        </p:nvSpPr>
        <p:spPr>
          <a:xfrm>
            <a:off x="2148840" y="3547872"/>
            <a:ext cx="201168" cy="292608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39696" y="385876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550" dirty="0"/>
          </a:p>
        </p:txBody>
      </p:sp>
      <p:sp>
        <p:nvSpPr>
          <p:cNvPr id="55" name="Shape 53"/>
          <p:cNvSpPr/>
          <p:nvPr/>
        </p:nvSpPr>
        <p:spPr>
          <a:xfrm>
            <a:off x="2359152" y="3547872"/>
            <a:ext cx="201168" cy="292608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50008" y="385876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550" dirty="0"/>
          </a:p>
        </p:txBody>
      </p:sp>
      <p:sp>
        <p:nvSpPr>
          <p:cNvPr id="57" name="Shape 55"/>
          <p:cNvSpPr/>
          <p:nvPr/>
        </p:nvSpPr>
        <p:spPr>
          <a:xfrm>
            <a:off x="2569464" y="3547872"/>
            <a:ext cx="201168" cy="292608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60320" y="385876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2779776" y="3547872"/>
            <a:ext cx="201168" cy="292608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70632" y="385876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550" dirty="0"/>
          </a:p>
        </p:txBody>
      </p:sp>
      <p:sp>
        <p:nvSpPr>
          <p:cNvPr id="61" name="Shape 59"/>
          <p:cNvSpPr/>
          <p:nvPr/>
        </p:nvSpPr>
        <p:spPr>
          <a:xfrm>
            <a:off x="2990088" y="3694176"/>
            <a:ext cx="201168" cy="146304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80944" y="385876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550" dirty="0"/>
          </a:p>
        </p:txBody>
      </p:sp>
      <p:sp>
        <p:nvSpPr>
          <p:cNvPr id="63" name="Shape 61"/>
          <p:cNvSpPr/>
          <p:nvPr/>
        </p:nvSpPr>
        <p:spPr>
          <a:xfrm>
            <a:off x="3200400" y="3694176"/>
            <a:ext cx="201168" cy="146304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191256" y="385876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3410712" y="3694176"/>
            <a:ext cx="201168" cy="146304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01568" y="385876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3621024" y="3694176"/>
            <a:ext cx="201168" cy="146304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11880" y="385876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3831336" y="3694176"/>
            <a:ext cx="201168" cy="146304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22192" y="385876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4572000" y="1737360"/>
            <a:ext cx="4343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572000" y="1737360"/>
            <a:ext cx="54864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18288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by On-Time Delivery %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709160" y="20848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Sharma leads rankings, followed by Kiran Reddy and Meena Patel. Strong top performers set the benchmark for the team.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572000" y="2624328"/>
            <a:ext cx="4343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4572000" y="2624328"/>
            <a:ext cx="54864" cy="82296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09160" y="27157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Performer Identification (&lt;80%)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709160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below 80% on-time rate are flagged via PERCENT_RANK window function. These agents are candidates for targeted coaching.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572000" y="3511296"/>
            <a:ext cx="4343400" cy="107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4572000" y="3511296"/>
            <a:ext cx="54864" cy="107499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6027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Workload Recommendations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4709160" y="37944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Pair low performers with top agents for mentorship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 tougher routes more evenly across the team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Refresher training on traffic navigation &amp; time management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Increase time buffer for high-congestion corridors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Regular feedback check-ins &amp; performance reviews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00024" y="4652299"/>
            <a:ext cx="8686800" cy="474919"/>
          </a:xfrm>
          <a:prstGeom prst="rect">
            <a:avLst/>
          </a:prstGeom>
          <a:solidFill>
            <a:srgbClr val="1E3A5F"/>
          </a:solidFill>
          <a:ln w="12700">
            <a:solidFill>
              <a:srgbClr val="0A28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337184" y="4629436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are our top-performing agents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Agent_ID, Agent_Name, Route_ID,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DENSE_RANK() OVER (ORDER BY On_Time_Delivery_Percentage DESC) AS Rank_By_Agent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deliveryagents;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Tracking Analytics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04672"/>
            <a:ext cx="1920240" cy="457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96112"/>
            <a:ext cx="192024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8600" y="1271016"/>
            <a:ext cx="192024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Delays (Top Reason)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0" y="804672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0" y="804672"/>
            <a:ext cx="19202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896112"/>
            <a:ext cx="192024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286000" y="1271016"/>
            <a:ext cx="192024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Processing Delays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43400" y="804672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804672"/>
            <a:ext cx="1920240" cy="457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896112"/>
            <a:ext cx="192024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43400" y="1271016"/>
            <a:ext cx="192024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Related Delays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0" y="804672"/>
            <a:ext cx="2514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804672"/>
            <a:ext cx="2514600" cy="45720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896112"/>
            <a:ext cx="251460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400800" y="1271016"/>
            <a:ext cx="251460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Issue Delays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1737360"/>
            <a:ext cx="4114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17373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DELAY REASONS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03911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039112"/>
            <a:ext cx="54864" cy="43891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0756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Traffic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7472" y="2295144"/>
            <a:ext cx="1344717" cy="109728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65341" y="22585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387 incidents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8600" y="254203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2542032"/>
            <a:ext cx="54864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25786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Avg Processing Delay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7472" y="2798064"/>
            <a:ext cx="1091062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11686" y="27614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314 incidents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28600" y="304495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" y="3044952"/>
            <a:ext cx="54864" cy="43891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0815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Weather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7472" y="3300984"/>
            <a:ext cx="667146" cy="10972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87770" y="32644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incidents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8600" y="354787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547872"/>
            <a:ext cx="54864" cy="438912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5844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Technical Issue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7472" y="3803904"/>
            <a:ext cx="371795" cy="109728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2419" y="37673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incidents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0" y="1737360"/>
            <a:ext cx="43434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173736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&gt;2 DELAYED CHECKPOINTS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0" y="2039112"/>
            <a:ext cx="4343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2039112"/>
            <a:ext cx="54864" cy="4206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0016" y="207568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delays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0016" y="2276856"/>
            <a:ext cx="237744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50608" y="22402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orders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0" y="2514600"/>
            <a:ext cx="4343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0" y="2514600"/>
            <a:ext cx="54864" cy="42062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0016" y="25511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delays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00016" y="2752344"/>
            <a:ext cx="187452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47688" y="27157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orders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72000" y="2990088"/>
            <a:ext cx="4343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0" y="2990088"/>
            <a:ext cx="54864" cy="420624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0016" y="302666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delays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00016" y="3227832"/>
            <a:ext cx="1737360" cy="109728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10528" y="319125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orders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572000" y="3465576"/>
            <a:ext cx="4343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0" y="3465576"/>
            <a:ext cx="54864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00016" y="350215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delays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700016" y="3703320"/>
            <a:ext cx="109728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70448" y="366674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orders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572000" y="3941064"/>
            <a:ext cx="4343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00" y="3941064"/>
            <a:ext cx="54864" cy="420624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00016" y="39776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delays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700016" y="4178808"/>
            <a:ext cx="685800" cy="1097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58968" y="41422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orders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572000" y="4434840"/>
            <a:ext cx="4343400" cy="6355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572000" y="4434839"/>
            <a:ext cx="45720" cy="635509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09160" y="44691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709160" y="4725160"/>
            <a:ext cx="4114800" cy="18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the dominant delay cause (38.7%). Addressing congestion on high-delay routes like RT_08, RT_09 would have the greatest impact on shipment performance.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28600" y="4595144"/>
            <a:ext cx="4288536" cy="475204"/>
          </a:xfrm>
          <a:prstGeom prst="rect">
            <a:avLst/>
          </a:prstGeom>
          <a:solidFill>
            <a:srgbClr val="1E3A5F"/>
          </a:solidFill>
          <a:ln w="12700">
            <a:solidFill>
              <a:srgbClr val="0A28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365760" y="4565136"/>
            <a:ext cx="4056221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the most common delay reasons 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Delay_Reason, COUNT(*) AS Count, RANK() OVER (ORDER BY COUNT(*) DESC) AS Rank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shipment GROUP BY Delay_Reason;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KPI Reporting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04672"/>
            <a:ext cx="210312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96112"/>
            <a:ext cx="210312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8600" y="1271016"/>
            <a:ext cx="210312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On-Time Delivery Rate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68880" y="804672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804672"/>
            <a:ext cx="21031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896112"/>
            <a:ext cx="210312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46.85 min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68880" y="1271016"/>
            <a:ext cx="210312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Traffic Delay (All Routes)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804672"/>
            <a:ext cx="2103120" cy="457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896112"/>
            <a:ext cx="210312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RT_08, RT_09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9160" y="1271016"/>
            <a:ext cx="210312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Traffic Delay Routes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49440" y="804672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804672"/>
            <a:ext cx="1965960" cy="457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896112"/>
            <a:ext cx="196596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49440" y="1271016"/>
            <a:ext cx="196596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Delivery Delay Region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1737360"/>
            <a:ext cx="4114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17373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KPI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029968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286000"/>
            <a:ext cx="3840480" cy="25603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286000"/>
            <a:ext cx="2792029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28600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72.7% On-Time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72968" y="2286000"/>
            <a:ext cx="1033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 Late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25968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(Total On-Time Deliveries / Total Deliveries) × 100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28600" y="3090672"/>
            <a:ext cx="41148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30906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DELAY BY REGION (minutes)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8600" y="33832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280160" y="3410712"/>
            <a:ext cx="2617216" cy="146304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70528" y="33832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736 min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28600" y="36118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280160" y="3621024"/>
            <a:ext cx="2863940" cy="16459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44100" y="36118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827 min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28600" y="38404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280160" y="3867912"/>
            <a:ext cx="2542540" cy="1463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95852" y="38404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715 min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28600" y="40690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280160" y="4096512"/>
            <a:ext cx="2482088" cy="146304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35400" y="40690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698 min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28600" y="4297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280160" y="4325112"/>
            <a:ext cx="2318512" cy="146304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71824" y="42976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652 min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28600" y="45262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280160" y="4553712"/>
            <a:ext cx="2179828" cy="146304"/>
          </a:xfrm>
          <a:prstGeom prst="rect">
            <a:avLst/>
          </a:prstGeom>
          <a:solidFill>
            <a:srgbClr val="2B4C8C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33140" y="45262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613 min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572000" y="1737360"/>
            <a:ext cx="43434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173736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DELAY PER ROUTE (minutes)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17720" y="2102157"/>
            <a:ext cx="182880" cy="1299411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08576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550" dirty="0"/>
          </a:p>
        </p:txBody>
      </p:sp>
      <p:sp>
        <p:nvSpPr>
          <p:cNvPr id="55" name="Shape 53"/>
          <p:cNvSpPr/>
          <p:nvPr/>
        </p:nvSpPr>
        <p:spPr>
          <a:xfrm>
            <a:off x="4818888" y="2145471"/>
            <a:ext cx="182880" cy="1256097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9744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550" dirty="0"/>
          </a:p>
        </p:txBody>
      </p:sp>
      <p:sp>
        <p:nvSpPr>
          <p:cNvPr id="57" name="Shape 55"/>
          <p:cNvSpPr/>
          <p:nvPr/>
        </p:nvSpPr>
        <p:spPr>
          <a:xfrm>
            <a:off x="5020056" y="2203223"/>
            <a:ext cx="182880" cy="1198345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10912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5221224" y="2232099"/>
            <a:ext cx="182880" cy="1169469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12080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550" dirty="0"/>
          </a:p>
        </p:txBody>
      </p:sp>
      <p:sp>
        <p:nvSpPr>
          <p:cNvPr id="61" name="Shape 59"/>
          <p:cNvSpPr/>
          <p:nvPr/>
        </p:nvSpPr>
        <p:spPr>
          <a:xfrm>
            <a:off x="5422392" y="2434229"/>
            <a:ext cx="182880" cy="967339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13248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550" dirty="0"/>
          </a:p>
        </p:txBody>
      </p:sp>
      <p:sp>
        <p:nvSpPr>
          <p:cNvPr id="63" name="Shape 61"/>
          <p:cNvSpPr/>
          <p:nvPr/>
        </p:nvSpPr>
        <p:spPr>
          <a:xfrm>
            <a:off x="5623560" y="2564170"/>
            <a:ext cx="182880" cy="83739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14416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5824728" y="2564170"/>
            <a:ext cx="182880" cy="83739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15584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6025896" y="2593046"/>
            <a:ext cx="182880" cy="80852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16752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6227064" y="2607484"/>
            <a:ext cx="182880" cy="7940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17920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6428232" y="2679673"/>
            <a:ext cx="182880" cy="721895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19088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6629400" y="2881804"/>
            <a:ext cx="182880" cy="519764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20256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6830568" y="2867366"/>
            <a:ext cx="182880" cy="53420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21424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7031736" y="2968431"/>
            <a:ext cx="182880" cy="433137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022592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550" dirty="0"/>
          </a:p>
        </p:txBody>
      </p:sp>
      <p:sp>
        <p:nvSpPr>
          <p:cNvPr id="79" name="Shape 77"/>
          <p:cNvSpPr/>
          <p:nvPr/>
        </p:nvSpPr>
        <p:spPr>
          <a:xfrm>
            <a:off x="7232904" y="2968431"/>
            <a:ext cx="182880" cy="433137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23760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550" dirty="0"/>
          </a:p>
        </p:txBody>
      </p:sp>
      <p:sp>
        <p:nvSpPr>
          <p:cNvPr id="81" name="Shape 79"/>
          <p:cNvSpPr/>
          <p:nvPr/>
        </p:nvSpPr>
        <p:spPr>
          <a:xfrm>
            <a:off x="7434072" y="2982869"/>
            <a:ext cx="182880" cy="418699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424928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550" dirty="0"/>
          </a:p>
        </p:txBody>
      </p:sp>
      <p:sp>
        <p:nvSpPr>
          <p:cNvPr id="83" name="Shape 81"/>
          <p:cNvSpPr/>
          <p:nvPr/>
        </p:nvSpPr>
        <p:spPr>
          <a:xfrm>
            <a:off x="7635240" y="3112810"/>
            <a:ext cx="182880" cy="28875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626096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550" dirty="0"/>
          </a:p>
        </p:txBody>
      </p:sp>
      <p:sp>
        <p:nvSpPr>
          <p:cNvPr id="85" name="Shape 83"/>
          <p:cNvSpPr/>
          <p:nvPr/>
        </p:nvSpPr>
        <p:spPr>
          <a:xfrm>
            <a:off x="7836408" y="3069496"/>
            <a:ext cx="182880" cy="33207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827264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550" dirty="0"/>
          </a:p>
        </p:txBody>
      </p:sp>
      <p:sp>
        <p:nvSpPr>
          <p:cNvPr id="87" name="Shape 85"/>
          <p:cNvSpPr/>
          <p:nvPr/>
        </p:nvSpPr>
        <p:spPr>
          <a:xfrm>
            <a:off x="8037576" y="3156124"/>
            <a:ext cx="182880" cy="245444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28432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550" dirty="0"/>
          </a:p>
        </p:txBody>
      </p:sp>
      <p:sp>
        <p:nvSpPr>
          <p:cNvPr id="89" name="Shape 87"/>
          <p:cNvSpPr/>
          <p:nvPr/>
        </p:nvSpPr>
        <p:spPr>
          <a:xfrm>
            <a:off x="8238744" y="3185000"/>
            <a:ext cx="182880" cy="21656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229600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550" dirty="0"/>
          </a:p>
        </p:txBody>
      </p:sp>
      <p:sp>
        <p:nvSpPr>
          <p:cNvPr id="91" name="Shape 89"/>
          <p:cNvSpPr/>
          <p:nvPr/>
        </p:nvSpPr>
        <p:spPr>
          <a:xfrm>
            <a:off x="8439912" y="3185000"/>
            <a:ext cx="182880" cy="21656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430768" y="34198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E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550" dirty="0"/>
          </a:p>
        </p:txBody>
      </p:sp>
      <p:sp>
        <p:nvSpPr>
          <p:cNvPr id="93" name="Shape 91"/>
          <p:cNvSpPr/>
          <p:nvPr/>
        </p:nvSpPr>
        <p:spPr>
          <a:xfrm>
            <a:off x="4572000" y="3639312"/>
            <a:ext cx="4343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4572000" y="3639312"/>
            <a:ext cx="54864" cy="82296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09160" y="37307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Delay Insights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4709160" y="39867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RT_08, RT_15, RT_09 face the highest traffic delays (80–90 min). RT_06 and RT_10 are nearly delay-free at 15 min. Prioritizing congestion management on top-3 routes can dramatically improve KPIs.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228600" y="4809461"/>
            <a:ext cx="8686800" cy="338328"/>
          </a:xfrm>
          <a:prstGeom prst="rect">
            <a:avLst/>
          </a:prstGeom>
          <a:solidFill>
            <a:srgbClr val="1E3A5F"/>
          </a:solidFill>
          <a:ln w="12700">
            <a:solidFill>
              <a:srgbClr val="0A28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365760" y="4843748"/>
            <a:ext cx="8412480" cy="242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On-Time Delivery % 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(SUM(CASE WHEN Actual_Delivery_Date &lt;= Expected_Delivery_Date THEN 1 ELSE 0 END) / COUNT(Order_ID)) * 100 AS On_Time_Delivery_Pct FROM orders;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B4C8C">
              <a:alpha val="30000"/>
            </a:srgbClr>
          </a:solidFill>
          <a:ln w="12700">
            <a:solidFill>
              <a:srgbClr val="2B4C8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2743200" y="2834640"/>
            <a:ext cx="36576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 Logistics &amp; Delivery Analytics for Flipkart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Tridev Pal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" y="3977640"/>
            <a:ext cx="2011680" cy="292608"/>
          </a:xfrm>
          <a:prstGeom prst="rect">
            <a:avLst/>
          </a:prstGeom>
          <a:solidFill>
            <a:srgbClr val="243554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39776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04872" y="3977640"/>
            <a:ext cx="2011680" cy="292608"/>
          </a:xfrm>
          <a:prstGeom prst="rect">
            <a:avLst/>
          </a:prstGeom>
          <a:solidFill>
            <a:srgbClr val="243554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4872" y="39776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Analysis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81144" y="3977640"/>
            <a:ext cx="2011680" cy="292608"/>
          </a:xfrm>
          <a:prstGeom prst="rect">
            <a:avLst/>
          </a:prstGeom>
          <a:solidFill>
            <a:srgbClr val="243554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81144" y="39776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57416" y="3977640"/>
            <a:ext cx="2011680" cy="292608"/>
          </a:xfrm>
          <a:prstGeom prst="rect">
            <a:avLst/>
          </a:prstGeom>
          <a:solidFill>
            <a:srgbClr val="243554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57416" y="39776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Performance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" y="4315968"/>
            <a:ext cx="2011680" cy="292608"/>
          </a:xfrm>
          <a:prstGeom prst="rect">
            <a:avLst/>
          </a:prstGeom>
          <a:solidFill>
            <a:srgbClr val="243554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43159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04872" y="4315968"/>
            <a:ext cx="2011680" cy="292608"/>
          </a:xfrm>
          <a:prstGeom prst="rect">
            <a:avLst/>
          </a:prstGeom>
          <a:solidFill>
            <a:srgbClr val="243554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04872" y="43159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Tracking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81144" y="4315968"/>
            <a:ext cx="2011680" cy="292608"/>
          </a:xfrm>
          <a:prstGeom prst="rect">
            <a:avLst/>
          </a:prstGeom>
          <a:solidFill>
            <a:srgbClr val="243554"/>
          </a:solidFill>
          <a:ln w="12700">
            <a:solidFill>
              <a:srgbClr val="2B4C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43159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1808</Words>
  <Application>Microsoft Office PowerPoint</Application>
  <PresentationFormat>On-screen Show (16:9)</PresentationFormat>
  <Paragraphs>331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Analysis for Flipkart</dc:title>
  <dc:subject>PptxGenJS Presentation</dc:subject>
  <dc:creator>Tridev Pal</dc:creator>
  <cp:lastModifiedBy>Tridev Pal</cp:lastModifiedBy>
  <cp:revision>3</cp:revision>
  <dcterms:created xsi:type="dcterms:W3CDTF">2026-04-02T06:50:27Z</dcterms:created>
  <dcterms:modified xsi:type="dcterms:W3CDTF">2026-04-02T10:52:57Z</dcterms:modified>
</cp:coreProperties>
</file>